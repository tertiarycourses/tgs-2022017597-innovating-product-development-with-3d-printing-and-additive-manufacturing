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022_efd517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523078"/>
            <a:ext cx="2926080" cy="165132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161B26"/>
                </a:solidFill>
                <a:latin typeface="Arial"/>
              </a:rPr>
              <a:t>Innovating Product Development with 3D Printing and Additive Manufacturing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TGS-2022017597   ·   TSC: Additive Manufacturing (PRE-OPR-4012-1.1)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v8.0  ·  18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· PM · 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SSG QR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generated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&amp;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 each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data science, engineering and emerging-technology educator.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3D printing &amp; additive manufacturing, CAD/product design, data science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industry training across engineering, manufacturing and technology domains.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Your experience with CAD, 3D printing or manufacturing (if any).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What you want to design, prototype or manufacture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15_8266d9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69" y="1783080"/>
            <a:ext cx="3297741" cy="39776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lms-tms.tertiaryinfotech.com — your course portal login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1 · Visit the portal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 to https://lms-tms.tertiaryinfotech.com in your browser.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2 · Login with OTP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Enter your registered email and key in the One-Time Password sent to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3 · Open your course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this course under My Courses.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4 · Download materials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 and Learner Guide for the open-book assessment.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Additive Manufacturing, 3D Scanning and Design for AM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Trainer and learner introductions ·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Overview of AM and 3D Scanning (Labs 1–6)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 begins: Process Related Issues (Lab 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Process Issues, Process Improvement and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Process Related Issues for AM (Labs 8–10)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Process Improvement for AM (Labs 11–16)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Revision · Course feedback · TRAQOM survey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(Assessment) · Final Assessment (WA + 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Additive Manufacturing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PRE-OPR-4012-1.1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Skills Framework for Precision Engineering — Additive Manufacturing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Level 4 — analyse, determine, evaluate and optimise AM processes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· 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A1: Analyse and determine material considerations of components to be manufactured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A2: Analyse process-related issues for using DMLS, SLS, SLM, powder bed and inkjet head, and/or 3D printing for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A3: Determine processes and procedures for manufacturing metallic and non-metallic components using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A4: Evaluate use of reverse engineering processes for components through 3D scanning and subsequent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A5: Apply optimisation techniques to improve efficiency of AM processes and product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A6: Assess the impact of manufacturing process improvements on business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·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K1: AM characteristics, techniques and 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K2: Requirements of different AM processes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K3: Factors to be considered when selecting AM solutions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K4: Impact of AM on manufacturing operations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K5: Methods for reviewing AM performance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K6: Benefits and trade-offs of 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K7: Methods of ensuring long-term sustainability of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LO1 — Analyse AM &amp; 3D scanning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Analyze the AM and evaluate the use of reverse engineering using 3D scanning.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LO2 — Analyse process issues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Analyze the issues and determine the requirements for AM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LO3 — Optimise &amp; assess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Apply AM optimization techniques and assess the impact of process improvement.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 DAYS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Topic 1 ·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Overview of AM systems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Material considerations for AM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Benefits and trade-offs of AM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AM with 3D scanning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for AM in Fusion 360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1–6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Topic 2 · Process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Printer hardware &amp; slicing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Bed adhesion: skirt/brim/raft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Extrusion &amp; temperature issues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Filaments and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Hybrid metal + polymer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7–10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Topic 3 ·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Infill and wall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Surface quality &amp; textures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Support strategy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Post-processing chains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Business impact &amp; sustainability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11–16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Short-Answer Questions (SAQ) — 1 hour,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practical tasks — 90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Minimum 75% attendance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Appeal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(C) / Not Yet Competent (NYC) recorded on the Assessment Summary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Sit WA (SAQ) then the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Overview of Additive Manufacturing and 3D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AM systems · material considerations · benefits &amp; trade-offs · 3D scanning and reverse engineering  (K1, K3, K6 · A1, A4)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Additive Manufacturing?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Layer-by-layer fabrication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AM builds parts by depositing material layer upon layer, directly from a computer-aided design (CAD)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part-specific tooling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dies, molds or fixtures — the digital file is the tooling, so design changes cost nothing to retool.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Freeform geometry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Multiple layers built in the X–Y plane stack along Z, enabling shapes machining cannot 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Rapid &amp; flexible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Concept-to-part in hours enables fast prototyping, iteration and mass customisation.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TWO PHILOSOPHIES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Additive vs Subtractive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Add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Remove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Additive (AM)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Builds the part up layer by layer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Material only where needed — minimal scrap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Complexity is essentially free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tooling — economic at lot size one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Slower per part at high 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Subtractive (CNC/machining)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Cuts material away from a solid block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Significant chip/scrap waste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 internal features often impossible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Tooling &amp; setup favour large volumes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Excellent finish and tight tolerances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Printing vs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3D printing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Strictly, the build step — the machine depositing layers. The term the consumer world uses.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Additive manufacturing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full industrial workflow: design, simulation, build, post-processing, inspection and certification.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Same core, different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AM part is 3D printed — but AM adds the engineering discipline around the print.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 this course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We use both terms; Topic 2–3 cover the process discipline that turns printing into manufacturing.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Brief History of 3D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1981 — Hideo Kodama publishes the first layer-by-layer photopolymer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1984–87 — Chuck Hull invents stereolithography (SLA) and ships the first commercial printer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1988–92 — FDM patented by Scott Crump; SLS emerges for powders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2009 — key FDM patents expire; RepRap &amp; desktop printing explode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Today — metal AM flies in aircraft, implants and rockets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CAD TO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3D Printing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DESIGN — model the part in CAD (Fusion 360) or capture it by 3D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EXPORT — tessellate to an STL/3MF mesh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SLICE — the slicer (Cura) converts the mesh to layer toolpaths (G-code)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PRINT — the machine builds the part layer by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POST-PROCESS — remove supports, cure, finish, inspect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TECHNOLOGY MAP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 AM Process Families (ISO/ASTM 52900)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Extrusion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FDM/FFF — molten filament laid down in beads. Desktop standard.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Vat Photopolymerisation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SLA, DLP, LCD/MSLA — light cures liquid resin, layer by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Powder Bed Fusion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SLS, DMLS, SLM, EBM — laser/e-beam fuses powder layers.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Jetting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PolyJet/NanoParticle jetting — droplets of material UV-cured in place.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Binder Jetting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Liquid binder glues powder — metals, sand moulds, full-colour parts.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Directed Energy Deposition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Blown powder or wire melted by laser/arc — repair &amp; large metal parts.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Sheet Lamination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LOM, ultrasonic consolidation — sheets bonded and cut.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Hybrid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AM + CNC finishing in one machine — additive build, subtractive precision.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PROCESS FAMILIES 2–3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Vat Photopolymerisation &amp; Powder Bed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UV laser cures resin one small spot at a time — fine detail, smooth finish.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DLP / LCD (MSLA)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projector or LCD mask cures a whole layer at once — speed at pixel resolution.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laser sinters polymer powder — tough nylon parts, no supports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LPBF / DMLS / SLM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Laser powder bed fusion of metals — sintered (DMLS) or fully melted (SLM).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EBM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electron beam melts metal powder in vacuum — aerospace titanium.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MJF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HP Multi Jet Fusion — agent + IR lamps fuse nylon powder fast.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FDM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Filament (FDM)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2_efd517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765"/>
            <a:ext cx="6400800" cy="361226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Desktop FDM printers — cartesian and delta architectures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Layer on layer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layer prints on top of the previous one, up from the build platform — like building a wall.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Needs a base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first layer must stick to the platform; poor bases need adhesion aids or redesign.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Overhangs need support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Sudden overhangs print into mid-air — the slicer generates removable support structures.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Design to avoid supports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Orient and design parts to minimise supports: faster prints, better surfaces.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Resin (SLA / DLP / LCD)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5_c2c7fe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963673"/>
            <a:ext cx="6400800" cy="361645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desktop SLA resin printer with its UV-blocking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UV-curable resin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tray of liquid photopolymer is selectively hardened by a light source.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Laser vs projector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SLA cures spot by spot; DLP/LCD cure an entire layer at once — features as fine as a pixel.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Printed solid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Resin parts usually print solid or drained — trapped liquid resin cannot stay inside.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Post-cure required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Wash in IPA, then UV post-cure to reach full strength — always with gloves.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POWDER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Printing with Powder (SLS / Metal PBF)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7_ad621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71175"/>
            <a:ext cx="6400800" cy="360144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SLS part emerging from its unsintered powder cake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Most aggressive complexity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Unfused powder supports the part, freeing the most complex geometries in 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Industrial territory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Powder is messy and metal powders are an explosion hazard — not a casual in-house setup.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Post-processing heavy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Depowdering, heat treatment and finishing depend on technology and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Nylon to titanium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From SLS nylon ducting to DMLS titanium implants and rocket injectors.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DMLS · SLS · SLM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Metal Powder Bed Fusion — Three Siblings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DMLS — sinter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Laser fuses metal powder by sintering — heat without full melting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Stainless, cobalt-chrome, aluminium, Inconel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Dental implants, aerospace brackets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SLS — polymers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Same principle applied to thermoplastic powders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Tough nylon (PA12)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support structures — powder is the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SLM — full melt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Laser fully melts the metal to a liquid state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Denser parts, higher residual stress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Demands tight process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MATERIALS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AM Materials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Polymers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PLA, ABS, PETG, Nylon, TPU filaments; photopolymer resins; PA12 powders.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Stainless &amp; tool steels, titanium, aluminium, cobalt-chrome, Inconel, copper.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Ceramics &amp; composites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ceramics, carbon/glass-fibre filled polymers, metal-matrix blends.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Specialty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Wood/metal/stone-filled, conductive, magnetic, glow, flexible TPE, bio-inks.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CHOOSING WISELY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Selecting an AM Solution — Decision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properties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Mechanical strength, temperature, chemical resistance and biocompatibility the part must deliver.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complexity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Feature detail, internal channels, overhangs — some processes resolve far finer detail than others.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Volume &amp; speed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Prototyping favours AM at lot size one; beyond ~100s of units, moulding usually 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Post-processing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Supports, curing, machining, finishing — each process carries its own downstream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Machine, material, labour and energy per part — plus capital outlay and maintenance.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Learning curve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 skill, software toolchain and process maturity in your team.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Considerations When Buying a 3D Printer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2_45f34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92" y="1783080"/>
            <a:ext cx="4027095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desktop FDM printer mid-print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Machine price, materials, spares and running cost per printed hour.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Learning curve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From plug-and-print desktop FDM to industrial PBF needing trained operators.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Build volume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Big printers cost and occupy exponentially more — match to your part sizes.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Capital &amp; maintenance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Ventilation, power, calibration schedules and service contracts.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WHY AM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Benefits of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freedom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Complex geometry is free — internal lattices, conformal channels, organic 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Rapid prototyping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Idea to physical part in hours; iterate daily instead of quarterly.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Mass customisation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part can differ at no extra cost — dental, hearing aids, prosthetics.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Less waste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 is placed only where needed — high buy-to-fly ratios beaten dramatically.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tooling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Skip molds and dies entirely — economic at lot size one, instant design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Distributed production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Ship files, not parts — print at the point of need.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EYES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Trade-offs of Additive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Throughput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Layer-by-layer is slow — injection moulding beats AM beyond hundreds of units.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Mechanical anisotropy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Parts are typically 10–50% weaker across layer boundaries than moulded equivalents.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range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Far fewer qualified materials than conventional manufacturing, and often costlier.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Surface &amp; 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Layer lines and dimensional tolerance often demand post-processing.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Post-processing 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 removal, curing, heat treatment — hidden time and labour.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Repeatability &amp; QA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Process variation makes certification harder — a live research frontier (NIST).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K4/K6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Digital Dentistry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3_bc126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0794"/>
            <a:ext cx="5166360" cy="291077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4_0154292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3D-printed dental models and appliances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Scan-to-model workflow: intraoral scan → 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MASS CUSTOMISATION · 99% OF SHELLS ARE 3D-PRINTED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Hearing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5_f7ec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4111"/>
            <a:ext cx="5166360" cy="290413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6_bb7b7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Ear impression captured for a custom 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Custom-fit 3D-printed ear 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CASE STUDY · ACCESSIBLE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Prosthetics for Humans and Animals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7_9ec53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3141"/>
            <a:ext cx="5166360" cy="290607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38_29778e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Printed prosthetic hand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dog fitted with 3D-printed prosthetic legs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CASE STUDY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Distributed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9_5e8797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71874"/>
            <a:ext cx="6400800" cy="360005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replacement part printed where it is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Ship files, not parts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Physical goods distributed as downloadable files — like music and movies.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Print at point of need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Spare parts printed on-site cut inventory, logistics and lead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Real constraints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Quality and materials remain limited; printers need calibration and maintenance.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People still matter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Staff must be trained, filament supplied, tech support provided.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AM Across Industries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Aerospace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Lightweight blisks, brackets and fuel nozzles — mass down, lead time 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Automotive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Rapid prototypes, custom jigs &amp; fixtures, low-volume spares.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Medical &amp; dental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Patient-specific implants, surgical guides, aligners, hearing aids.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Rail &amp; heavy industry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Bespoke obsolete spares and worn-part repair by 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Construction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Extruded-concrete walls and printed architectural elements.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&amp; education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Desktop prototyping, maker culture, STEM classrooms.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DELOITTE LENS · K4/K6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Complexity is free. Customisation is free. Volume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AM rewrites the economics of scope and scale — prototype and personalise with AM; mass-produce with molds.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3D SCANNING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Scanning — Capture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2_23187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54860"/>
            <a:ext cx="6400800" cy="383407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Photogrammetry: phone capture → reconstructed bust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Photogrammetry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Dozens of photos from all angles reconstructed into a textured 3D mesh.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LiDAR / structured light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Depth sensors on phones and dedicated scanners capture geometry directly.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Mobile apps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Polycam, Kiri Engine, Scandy Pro, Heges, ItSeez3D, EM3D, Trnio, Capture 3D.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Output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mesh (STL/OBJ) ready for repair, remodelling and re-printing.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Model Software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TinkerCAD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Free browser CAD — drag-and-drop solids, perfect first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Fusion 360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This course's tool — parametric sketch-driven CAD/CAM with free personal licence.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 / SolidWorks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Professional parametric MCAD for production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Onshape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cloud CAD — CAD in a browser tab, built-in PDM.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SketchUp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Fast push-pull architectural modelling.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GrabCAD / Thingiverse / YouMagine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repositories — millions of ready-to-print designs.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FOR AM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Fusion 360 — Sketch-Driven 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4_8e9101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25" y="1783080"/>
            <a:ext cx="4018228" cy="39776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Fusion 360 modelling a consumer product enclosure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Sketch 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2D shapes drawn on sketch planes become 3D parts through modelling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Dimension-accurate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Parametric dimensions drive printable, engineering-accurate geometry.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Four core techniques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Extrude, Revolve, Sweep and Loft cover most printable parts — Labs 1–4.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Beyond solids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Freeform (T-spline) and surface modelling handle organic, complex curvature.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TECHNIQUES →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Fusion 360 — The Four Core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Extrude — Lab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Draw a 2D profile, push it along the third axis into a solid — the bread-and-butter 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Sweep — Lab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 a profile along a 2D path on a perpendicular plane — tubes, clips, wires.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Revolve — Lab 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Spin a half cross-section around an axis — funnels, vases, pulleys, bottles.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Loft — Lab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Blend between profiles on different planes, guided by rails — freeform vessels and transitions.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SKETCHES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Freeform and Surface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Freeform (T-spline) modelling shapes organic forms by moving, rotating and scaling the points, edges and faces of primitive bodies.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Surface modelling constructs complex curvature patch by patch, then thickens or stitches into printable solids.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when sketch-based solids cannot reach the shape — ergonomic grips, sculpted housings, scanned-form matching.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6's scanned meshes and the torso case study are edited with exactly these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QUALITY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Designs with Stress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point where local stress runs far higher than the surrounding material.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Where it hides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Sharp corners, holes, notches and grooves — any sudden change in geometry.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AM cares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Layer boundaries + stress risers = the crack starts exactly there.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fix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Fillet radii, tapers and relief notches ease the transition and spread the 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QUALITY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Tips to Minimise Stress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5_27a4e5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60" y="1783080"/>
            <a:ext cx="3696959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relief notch in a bend corner de-concentrates stress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Fillet every corner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fillet radii or tapers to ease transitions between shapes.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Relief notches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round relief notch stops a crack from starting in a sharp bend.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Avoid sharp corners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Especially at load-bearing intersections and layer boundaries.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Orient for strength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Put tensile loads along the layers, not across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FIT &amp; ASSEMBLY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and Physical 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6_1202df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790808"/>
            <a:ext cx="6400800" cy="396218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Wireframe visual display of a lid-to-box clearance measurement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Design the gap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Assembling parts need designed clearance — 0.2 mm is the FDM starting 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Measure digitally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Fusion 360's Measure, Section Analysis and sketch tools verify the designed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Verify physically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Digital calipers confirm the printed part reproduced the digital tolerance.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You'll design, print and measure a 0.2 mm container-and-lid 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A4 ·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Reverse Engineering with 3D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IDENTIFY — inspect and repair damage on the original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SCAN — capture it with a high-resolution 3D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REFINE — clean the mesh into an accurate CAD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SELECT — pick the AM process for the material &amp;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MANUFACTURE — print and post-process the component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MESH → 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Reverse Engineering a Mesh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0_84bbd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850" y="1783080"/>
            <a:ext cx="2499578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Sectioning a scanned piston mesh to recover its true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Import the scan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ready-made mesh/scan imports straight into Fusion 360.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Section the mesh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mesh section tool produces a clean cross-section curve.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Trace &amp; rebuild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Trace the section with a corrected sketch — fix wear and damage digitally.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Mirror &amp; revolve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Rebuild the part as clean parametric CAD derived from the scan.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ORGANIC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 — Reverse Engineering an Organic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1_7854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68" y="1783080"/>
            <a:ext cx="3415742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T-spline body matched to a torso scan, ready to thicken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Freeform cylinder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 freeform cylinder over the torso scan and match its contours.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Pull to the scan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Pull tool snaps the cylinder's vertices onto the scanned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Thicken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Thicken the matched surface into a printable, wearable shell.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Custom-fit body armour conformal to the scanned torso.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READY-MADE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Printing Repositories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2_dc2d5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96" y="1783080"/>
            <a:ext cx="3535286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Browse, download, slice — millions of proven printable designs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Thingiverse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thingiverse.com — the largest free STL library.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YouMagine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youmagine.com — Ultimaker's open design community.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Printables / GrabCAD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Curated models and engineering-grade CAD downloads.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Check the licence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Respect Creative Commons terms before commercial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1–6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Design for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1: Extrude — keychain token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2: Sweep — paper clip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3: Loft — plant 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Design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4: Revolve — funnel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5: Tolerance — container &amp; lid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Capture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6: 3D scan a real object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Export, repair and print the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Extrude — Personalised Keychain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determine material and design considerations while modelling a printable part with the extrude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an elliptical keychain token in Fusion 360, personalise it with the first letter of your name, then slice it in Cura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personalised elliptical keychain token, sliced and 3D printed in PLA.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labs/lab-01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0_128a9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4971"/>
            <a:ext cx="5166360" cy="27424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0_5c7ba9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161" y="1783080"/>
            <a:ext cx="3605316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Extrude — Personalised Keychain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sliced preview shows the token printing flat with no supports; the printed token carries your raised letter and the keyring hole is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Sweep — Giant Paper Clip Bookmark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sweep technique to produce a printable path-driven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giant paper clip bookmark in Fusion 360 by sweeping a circular profile along a paper-clip path, then slice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giant paper clip bookmark modelled with the sweep technique and 3D printed flat.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2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labs/lab-02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1_c8aadd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82800"/>
            <a:ext cx="5166360" cy="3286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1_60a30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0" y="1783080"/>
            <a:ext cx="3688759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Sweep — Giant Paper Clip Bookmark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preview shows the whole clip printing in contact with the bed; the printed clip flexes slightly and grips a few pages like a real paper clip.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Loft — Mini Plant Pot with Custom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loft technique with guide rails to create a freeform printable vessel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mini plant pot in Fusion 360 by lofting between a square top and a circular base with custom guide rails, then slice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mini plant pot lofted from circle to square, 3D printed without supports.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3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labs/lab-03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2_10b705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8483"/>
            <a:ext cx="5166360" cy="317539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2_b3baf1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83646"/>
            <a:ext cx="5166360" cy="348506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Loft — Mini Plant Pot with Custom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pot prints support-free with an even 2.5 mm wall; the loft transition from circle to square is smooth with no layer separation.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Revolve — Funnel from a 2D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apply the revolve technique and choose a print orientation that avoids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funnel in Fusion 360 by sketching its half cross-section and revolving it about the vertical axis, then invert it in Cura and 3D print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funnel revolved from a single 2D profile, printed wide-end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4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labs/lab-04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3_e0a42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30" y="1783080"/>
            <a:ext cx="4872978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3_2f6844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14" y="1783080"/>
            <a:ext cx="2942211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Revolve — Funnel from a 2D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Sliced upside-down the funnel needs no supports; water poured into the printed funnel flows cleanly through the spout.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5 — Tolerance — Container and Lid (0.2 mm 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 — determine digital and physical tolerances between assembling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Model a container and lid as two separate bodies in Fusion 360 with a 0.2 mm clearance, verify the digital tolerance, then 3D print and test the physical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two-part container whose lid slides on with a designed 0.2 mm clearance.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Fusion 360, Ultimaker Cura, FDM printer (PLA), digital calipers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5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labs/lab-05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8_89cf95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1051"/>
            <a:ext cx="5166360" cy="369025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58_e7e636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418" y="1783080"/>
            <a:ext cx="3692802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5 — Tolerance — Container and Lid (0.2 mm 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lid slides onto the container with light friction — neither loose nor forced — proving the digital 0.2 mm tolerance reproduced physically.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3D Scan and Print a Real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A4 — evaluate reverse engineering of a component through 3D scanning and subsequent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Scan a real object with a mobile 3D-scanning app, export the mesh as an STL file, repair it if needed, then slice and 3D print the reproduction.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3D-printed reproduction of a real object captured by photogrammetry on your phone.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Polycam / Kiri Engine / Scandy Pro (mobile), Fusion 360, Ultimaker Cura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6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labs/lab-06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3_b755c7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87" y="1783080"/>
            <a:ext cx="3968065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43_7d00753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8794"/>
            <a:ext cx="5166360" cy="38747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3D Scan and Print a Real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exported STL loads into Cura as a watertight mesh, and the printed part is a recognisable scaled reproduction of the scanned object.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 builds parts layer by layer from CAD with no part-specific tooling — seven process families cover polymers to metals.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Material, complexity, volume, post-processing and cost drive the selection of an AM solution.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AM's benefits (freedom, speed, customisation, low waste) trade against throughput, anisotropy and finishing.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3D scanning + Fusion 360 turn real objects into editable CAD for re-manufacture — reverse engineering.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modelled with extrude, sweep, loft and revolve, engineered a 0.2 mm fit, and printed a scanned object.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Process Related Issues for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Printer hardware · slicing · adhesion · extrusion · temperature · materials  (K2, K4 · A2, A3)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SOURCES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AM Issues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Printer hardware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Frame, motion system, extruder, hotend, bed — wear and misalignment show up in every print.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Diameter variation, moisture, contamination and wrong temperature windows.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Printing process conditions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Speed, temperature, retraction, cooling and adhesion settings.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Environment conditions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Draughts, ambient temperature, humidity and vibration.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Design-caused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Overhangs, thin walls, sharp corners and tolerance choices that fight the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HARDWARE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3D Printer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6_7dc22c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236" y="1783080"/>
            <a:ext cx="4750478" cy="39319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779008"/>
            <a:ext cx="10634472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833872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Extruder · hotend · X/Y/Z steppers · build plate · power supply · mainboard · controller — know the part to diagnose the 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SOFTWARE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Slicer — From Mesh to G-code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7_aab1a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827" y="1783080"/>
            <a:ext cx="4133625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preparing a hull model — layer preview of the sliced toolpath. Alternatives: PrusaSlicer, SelfCAD, OctoPrint, IceSL, KISSlicer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it does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Converts the 3D model (STL) into specific layer-by-layer instructions for the printer.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G-code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is G-code — movement, temperature and extrusion commands the printer executes.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Settings = quality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quality, speed and strength decision is made here, before the printer moves.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Cura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This course uses Ultimaker Cura — free, powerful, industry-standard for FDM.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FIRST LAYER · K2/A2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Getting the Print to Stick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7_5df8a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9872"/>
            <a:ext cx="6400800" cy="36040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adhesion failure mid-print — the part broke loose and dragged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Print geometry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Small or complex bases have little contact area to grip the bed.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Nozzle distance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First-layer gap must be right — too far and nothing sticks, too close and it drags.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Platform surface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Bed material and films/coatings must be compatible with your filament.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Platform temperature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heated bed keeps the first layers relaxed and attached.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ADHESION AIDS · A2/A3 ·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Raft, Brim and Skirt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printed grid platform the model sits 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Rescues warping-prone and top-heavy parts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Harder to remove; roughens the bottom 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flat border fused to the part's first-layer edge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Boosts adhesion and fights warping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Peels away; light cleanup at the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Skirt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Loops around the part, never touching 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Primes the nozzle, evens the 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Doubles as a bed-levelling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DIAGNOSIS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Extrusion Issues — Over vs Under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8_2ed162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15" y="1783080"/>
            <a:ext cx="3983009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9_45437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754" y="1783080"/>
            <a:ext cx="3924130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Over-extrusion: blobby surfaces, oversized walls, ridged tops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Under-extrusion: gaps, thin walls, missing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A2/A3 · CAUSE →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Diagnosing Extrusion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Too much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Too little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Over-extrusion — too much plastic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Blobby prints; holes come out undersized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Ridges stick up from top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calibrate flow %, check filament diameter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lower temperature a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Under-extrusion — too little plastic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Gaps between lines; weak, brittle layers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Extruder clicking or grinding the filament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check for partial clogs and jam points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Fix: raise temperature / slow down / dry filament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RETRACTION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Retraction — Stopping the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2_a13058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22793"/>
            <a:ext cx="6400800" cy="329821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retraction settings — distance and speed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Why retract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Plastic in the nozzle is under pressure; jumps across open space would leak.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The move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extruder pulls filament back a few millimetres to equalise pressure.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Distance &amp; speed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Tuned per printer/material — Bowden setups need more than direct drive.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Get it wrong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Too little → oozing and strings; too much → dimples and jams.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A2 ·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Oozing and Stringing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1_3d5a7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15" y="1783080"/>
            <a:ext cx="3647209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84_5a2ac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65" y="1783080"/>
            <a:ext cx="2597708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Blobs and dimples where pressure equalised badly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Strings bridge the travel moves between towers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Temperature — The Master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8_877f1c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4410"/>
            <a:ext cx="6400800" cy="327497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Setting printing temperature in Cura's material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Too low — way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Extrusion fails: clicking extruder, ground filament, nothing flows.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Too low — slightly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Layers don't bond; the part delaminates along layer lines.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Too high — slightly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Bridges and overhangs sag; stringing hard to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Too high — way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Smoking, discolouration, dripping liquid instead of controlled extrusion.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A2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Temperature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5_1b07ab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03" y="1783080"/>
            <a:ext cx="3623432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89_1490e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012" y="1783080"/>
            <a:ext cx="3927615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Bonding too cold — layers separate under light force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Far too hot — sagging, melted detail, discolouration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A2 · JAMS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Filament Jams and Heat Creep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90_cea5cb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27" y="1783080"/>
            <a:ext cx="2660024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Heat creep: the melt zone (red) spreading up the cold 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The jam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Nozzle moves, nothing extrudes — clicking as the motor skips backwards.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Heat creep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Heat spreads up the filament path; filament swells and binds before the melt zone.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 is fragile here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PLA's low glass point makes it the most heat-creep-prone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Prevention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Cooling fan on the heatbreak, retraction not overtuned, quality filament.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Clearing a Clogged Nozzle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91_0485b0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48" y="1783080"/>
            <a:ext cx="2650583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Clearing a clog with a needle — hot end, pliers, patience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Hot needle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Heat the nozzle, insert a needle/wire held with pliers — never fingers.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Gentle pressure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Poke the clog while pressing the filament lightly from above.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Cold pull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Once flowing, cool slightly and yank the filament to extract residue.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Persistent clogs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Swap the nozzle — they are consumables, not heirlooms.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MATERIALS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Filament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 · ABS · PETG/PET · Nylon — the four you must know (next slides).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Flexibles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TPE / TPU — rubber-like parts, gaskets, tyres.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Composites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Carbon-fibre, wood, sandstone, metal-filled — stiffness or looks.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Soluble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PVA (water) and HIPS (limonene) — dissolvable support materials.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Conductive, magnetic iron, glow-in-the-dark, Amphora.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Engineering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PC, PEEK, ULTEM — high temperature, high strength, high difficulty.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MATERIALS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ABS vs PLA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ABS — engineering workhorse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Durable, strong, lightweight and slightly flexible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and proven — the professional's default for years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Petroleum-based, not biodegradable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temperatures; warps without heated bed/enclosure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Unpleasant fumes — ventilate the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PLA — the friendly starter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Plant-derived; sweet smell, no harsh fumes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Easy to print, minimal warping — ideal for beginners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Huge colour/effect range: glow, translucent, silk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Brittle vs ABS; softens in a hot car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Attracts moisture — store 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MATERIALS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PETG vs Nylon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PETG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Nylon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PETG — tough all-rounder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Strong, flexible, water- and chemical-resistant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 warp, low shrink; food-safe grades exist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Doesn't absorb moisture from the air readily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fine-tuned nozzle &amp; bed temperatures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Strings more than PLA while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Nylon — engineering flexibility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Strong, durable and flexible; less brittle than ABS/PLA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100% thermoplastic — re-meltable without bond loss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melting temperature required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Emits fumes when overheated — ventilate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Extremely hygroscopic — dry-box storage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THE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Required Temperatures by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190341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Material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783080"/>
            <a:ext cx="372206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5597" y="178308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Extruder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9646" y="1783080"/>
            <a:ext cx="372206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7662" y="178308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50008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50008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7581" y="2350008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597" y="2350008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195–215 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9646" y="2350008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7662" y="2350008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 or 60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16936"/>
            <a:ext cx="3190341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16936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PETG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2916936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5597" y="2916936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9646" y="2916936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7662" y="2916936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 small parts, or 80–90 °C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83863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83863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Nylon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7581" y="3483863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597" y="3483863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9646" y="3483863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7662" y="3483863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Room temp, but needs special platforms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50791"/>
            <a:ext cx="3190341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50791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4050791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5597" y="4050791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240–260 °C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9646" y="4050791"/>
            <a:ext cx="372206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7662" y="4050791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110–120 °C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17720"/>
            <a:ext cx="3190341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17720"/>
            <a:ext cx="293430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Polycarbonate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7581" y="4617720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597" y="461772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280–300 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9646" y="4617720"/>
            <a:ext cx="372206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7662" y="4617720"/>
            <a:ext cx="346603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130 °C+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49240"/>
            <a:ext cx="10634472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394959"/>
            <a:ext cx="10268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Start mid-window; tune in 5 °C steps — strings mean too hot, poor bonding means too cold (Lab 10).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Settings in Cura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0_da611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6640"/>
            <a:ext cx="6400800" cy="335051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material management — the definition your prints inherit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Material definition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Temperature, fan and flow defaults come from the material profile.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Settings override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value set in Print Settings beats the material definition for that print.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Profiles persist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Create/update a profile to make your tuned overrides permanent.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One source of truth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tuned profiles per material — the end of guesswork.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A3 · MIXED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Metal + Non-Metal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SPLIT — separate the design into metallic and non-metallic parts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SELECT — DMLS/SLM for metals; FDM/SLS for polymers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POST-PROCESS — apply each material's finishing chain separately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BOND — join with the right technique, e.g. electroless deposition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VERIFY — test the assembly's integrity as one component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7–10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Toolchain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7: Install Cura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Slice your first model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the G-code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Adhesion &amp;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8: Skirt vs brim vs 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9: Supports for overhangs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10: Filament diagnostics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Diameter, temperature,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Install Cura and Slice Your First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 — set up the slicing toolchain used to analyse and fix AM process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Install Ultimaker Cura, add your printer profile, and slice a calibration cube to understand how the slicer turns an STL into G-code printer instructions.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Cura installation with your printer profile, and your first sliced G-code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7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labs/lab-07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8_814d1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79" y="1783080"/>
            <a:ext cx="3936081" cy="3886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69_14621d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60549"/>
            <a:ext cx="5166360" cy="27312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Install Cura and Slice Your First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Cura shows a sliced preview with per-layer toolpaths and a time/material estimate, and a .gcode file is saved — open it in a text editor to see the raw movement commands.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Bed Adhesion — Skirt vs Brim vs 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 — analyse first-layer adhesion issues and select the correct adhesion 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Slice three instances of the same cube with a skirt, a brim and a raft, print them, and compare adhesion strength, removal effort and bottom-surface finish.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prints of cube10.stl demonstrating skirt, brim and raft — and a rule for when to use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8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labs/lab-08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5_88096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4760"/>
            <a:ext cx="5166360" cy="34828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5_b39d09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8474"/>
            <a:ext cx="5166360" cy="363541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Bed Adhesion — Skirt vs Brim vs 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state when each aid applies — skirt to prime the nozzle, brim for warping-prone or small-footprint parts, raft for top-heavy or poorly adhering parts — and show the bottom-finish difference.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Support Structures for Overhangs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A2, A3 — determine when overhang geometry requires supports and generate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Slice twist.stl — a model with steep overhangs — first without and then with generated supports, print it, and remove the supports cleanly.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printed twist model whose overhangs succeeded because of correctly placed supports.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twist.stl,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9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labs/lab-09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6_dae77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0300"/>
            <a:ext cx="5166360" cy="2651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74_8ea668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86848"/>
            <a:ext cx="5166360" cy="267866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Support Structures for Overhangs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unsupported slice shows mid-air layers while the supported print completes; supports snap away leaving only minor scarring on the underside.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Lab 10 — Filament Diagnostics — Diameter, Temperature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A2, A3 — analyse material-side causes of extrusion issues and verify filament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Measure filament diameter with digital calipers, verify it against the slicer's material setting, and run a temperature check to place your filament in its working window.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verified filament diameter entry in Cura and a chosen printing temperature backed by test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Digital calipers, filament spool (PLA/ABS/PETG), Ultimaker Cura,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10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labs/lab-10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0_19f62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2979"/>
            <a:ext cx="5166360" cy="290640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097_19d57a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23132"/>
            <a:ext cx="5166360" cy="240609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Lab 10 — Filament Diagnostics — Diameter, Temperature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five caliper readings average within ±0.05 mm of nominal, Cura carries the measured diameter, and the test cube prints with bonded layers and no stringing at the temperature you selected.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AM issues trace to five sources: hardware, materials, process conditions, environment and design.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slicer converts STL to G-code — adhesion aids (skirt/brim/raft) and supports are slicing decisions.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Extrusion faults, retraction, oozing, jams and heat creep are diagnosed from the printed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Each material demands its temperature window, bed and storage — verified, not assumed (Lab 10).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Hybrid metal/polymer components pair the right AM process per part with the right bonding technique.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Process Improvement for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Infill · surface quality · supports · post-processing · business impact  (K5, K7 · 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Infill and Perimeters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3_fbe7b8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0583"/>
            <a:ext cx="6400800" cy="336263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print settings — walls and infill density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Perimeter (walls)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solid outline around each layer — walls carry most of a part's strength.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Infill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internal lattice — typically only 15–20% of the enclosed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The dial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More walls/infill: stronger, heavier, slower. Less: faster, lighter, weaker.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11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You'll measure exactly what each setting costs in time and grams.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Infill — Density and Pattern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5_b8ae14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9811"/>
            <a:ext cx="6400800" cy="350417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Infill preview at increasing densities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12–20% typical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Fraction of the interior that is plastic — the default band for most parts.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50%+ for strength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Functional, loaded parts justify denser infill and less warping.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Pattern matters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Grid, zigzag, gyroid, cubic — each trades strength direction vs speed.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Lab 12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Zigzag 20% vs grid 30% — printed and squeezed side by side.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Surface Quality — Layer Height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9_6267ac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28478"/>
            <a:ext cx="6400800" cy="308684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Layer-height setting drives finish and duration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The resolution dial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Layer height sets the visible stair-step on every curved or sloped 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Time trade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0.1 mm looks superb and takes twice as long as 0.2 mm; 0.3 mm is draft mode.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Top thickness follows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top THICKNESS constant so the layer count adapts — Lab 13.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Match to purpose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iterations coarse; presentation parts fine.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Top Layer — Pillowing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7_1bc59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60722"/>
            <a:ext cx="6400800" cy="282235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Pillowing: the roof sags into sparse infill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Preview lies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simulated top looks flat; physics prints it over air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Pillowing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Thin roofs sag between infill lines, or curl and break — bumpy tops.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Fixes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More top layers, denser infill under roofs, better cooling.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Rule of thumb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 thickness ≥ 4× layer height for a clean 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Surface Texture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7_f12b8a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68137"/>
            <a:ext cx="6400800" cy="34075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Surface finish elevates a print into a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Build surface finish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Glossy or textured bottom faces — decided by the bed surface itself.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Ironing — Lab 14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hot nozzle re-passes top faces at ~10% flow for glass-smooth roofs.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Fuzzy skin — Lab 15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Random jitter on outer walls hides layer lines behind texture.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Deliberate design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Texture is a slicing decision, not an accident.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6_b78cda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8912"/>
            <a:ext cx="6400800" cy="32659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Cura support generation — angle and placement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Overhangs need support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Anything printing into free space beyond ~45–50° needs scaffolding.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Reorient 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Rotating the part is free — supports cost material, time and finish.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Placement control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Touching-buildplate vs everywhere; blockers protect chosen faces.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Removal is a cost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support leaves a scar — plan removal before slicing (Lab 16).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5_975e5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41" y="1783080"/>
            <a:ext cx="2661196" cy="397763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part whose internal void must stay support-free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Inaccessible cavities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Supports inside holes and channels may be impossible to extract.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Skip or limit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Sometimes the right call is limiting supports and accepting minor sag.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Design around 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Chamfer the overhang, bridge the gap, or split the part for printing.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The craft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 judgement separates operators from process engineers.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K5/K6 · TECHNOLOGY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Pros and Cons — SLS &amp; Inkjet-Style 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Powder + laser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Droplets + binder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SLS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supports — powder holds the part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Tough, functional nylon parts; batch nesting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Grainy surface; powder handling &amp; recycling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Long cool-down before parts emerge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Material/Binder jetting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Multi-material and full-colour capability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features, smooth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Fragile green parts (binder); resin cost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Nozzle clogging and layer misalignment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K5/K6 · METAL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Pros and Cons — DMLS &amp; SLM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DMLS — sintered metal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Complex metal geometries, good strength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Established in dental &amp; aerospace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Warping from rapid cooling; powder inconsistency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Expensive machines and powders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SLM — fully melted metal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density, best mechanical properties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Single-alloy purity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Oxidation risk — inert atmosphere required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residual stresses — heat treatment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MEASURE THE IMPACT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Business Considerations for AM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Production speed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cycle times before and after every process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Functionality, mechanical properties, dimensional accuracy, surface finish.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 usage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Consumption and wastage — supports, purge, failed prints.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Resource utilisation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Machine uptime, operator hours, floor space, energy.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 &amp; savings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cost delta of the change, capital to consumables.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Ease of use &amp; feedback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 experience and the challenges users report.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Assessing a Process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BASELINE — record speed, quality, material and cost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CHANGE — introduce one improvement at a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MEASURE — same metrics, same parts, 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COMPARE — quantify the delta; collect operator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DECIDE — adopt, tune or roll back; document the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Sustaining AM Operations Long-Term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Calibration &amp; maintenance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Regular calibration and preventive maintenance of AM equipment.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 training and education of AM personnel.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Materials R&amp;D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Ongoing research into sustainable, environmentally-friendly materials.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 with stakeholders on sustainability standards and best practices.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Circularity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Recycle powders and failed prints; design for material recovery.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base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Document tuned profiles and fixes — institutional memory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FDM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FDM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 removal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Manual removal with tools, or dissolve PVA in water / HIPS in limonene.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Filling &amp; sanding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Epoxy fillers close gaps; progressive grits smooth surfaces (Lab 16).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Vapour smoothing &amp; dipping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Solvent vapour or acetone dip melts the surface to a gloss.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Priming &amp; painting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Primer then paint for presentation parts.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Epoxy resin coats add a protective, sealed skin.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Metal plating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Chemical or electro-plating gives polymer parts a metallic finish.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POWDER &amp; RESIN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SLS and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cooling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Hours of controlled cool-down before parts leave the build chamber.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clean-up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Compressed air, vacuum, sand blasting or brushing recover unsintered powder.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SLS: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Sanding, polishing, dyeing, painting, coatings, electroplating, vapour smoothing.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SLA: wash &amp; 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IPA wash removes resin; UV post-cure completes polymerisation.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SLA: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Sanding, polishing, dyeing, painting, coating, electroplating.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Gloves and ventilation — powders and uncured resin are hazardous.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 · FINISHING METALS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Post-Processing — Metal 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Sieving &amp; depowdering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Unmelted powder recovered by sieving; trapped powder shaken out by vibration.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Heat treatment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Vacuum/inert furnace relieves thermal stress — before build-plate separation.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cut-off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Chiselling, bandsaw or wire EDM separate the part from the plate.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 removal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Chiselling, wire EDM, CNC machining or thermal deburring by geometry.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Machining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Threads, holes and precision flats machined to tolerance.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Surface finish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Shot blasting, plating, polishing, micromachining — per the specification.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 · LABS 11–16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Strength &amp;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11: Perimeters &amp; infill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12: Infill patterns strength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Surface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13: Layer height ladder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14: Ironing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15: Fuzzy skin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 16: Support removal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Progressive sanding to smooth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11 — Perimeters and Infill — Strength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A5, A6 — apply wall/infill optimisation and assess its measured impact on time and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Vary wall count and infill density on the same model in Cura, and record how each change moves print time, material use and expected strength.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comparison table of wall/infill settings against sliced print time and material 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11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labs/lab-11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11 — Perimeters and Infill — Strength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table shows infill density driving time/material roughly linearly while extra walls add strength more efficiently — and you can justify a setting choice for a functional vs decorative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12 — Infill Patterns — Zigzag vs Grid Strength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evaluate infill pattern and density as a quality-improvement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Print cube10.stl with zigzag 20% and grid 30% infill, tune the top layers, then compare the two cubes' stiffness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printed cubes with different infill patterns/densities and a hands-on strength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12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labs/lab-12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6_75b92a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7241"/>
            <a:ext cx="5166360" cy="365787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06_8adbb0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51630"/>
            <a:ext cx="5166360" cy="35491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12 — Infill Patterns — Zigzag vs Grid Strength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grid 30% cube is noticeably stiffer and its roof better supported; you can articulate the pattern/density/time trade-off for a production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13 — Layer Height and Top Thickness — Surface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optimise layer height and top thickness for surface quality vs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Slice the same model at 0.1 mm, 0.2 mm and 0.3 mm layer heights, adjust top thickness to a constant, and compare surface quality against print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Sliced (and optionally printed) evidence of the layer-height ladder: finish vs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13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labs/lab-13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13 — Layer Height and Top Thickness — Surface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rank the three layer heights by surface quality and by print time, and state why top thickness (not top layer count) is the setting to keep constant.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Ironing — Glass-Smooth Top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ironing to improve top-surface quality and assess its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Enable Cura's ironing feature, which passes the hot nozzle over the top surface with a tiny extrusion, and compare the top finish with and without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cube prints — ironed and standard — demonstrating the top-surface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cube10.stl,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14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labs/lab-14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3_6030b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77297"/>
            <a:ext cx="5166360" cy="249776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12_827b08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15923"/>
            <a:ext cx="5166360" cy="302051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Ironing — Glass-Smooth Top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ironed cube's top face is visibly smoother and flatter than the control's, and you can state when the extra time is worth it (visible top faces, lids, logos).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Fuzzy Skin — Textured Walls on a Vase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fuzzy skin as a deliberate surface-texture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Enable fuzzy skin on a vase model so the outer wall is jittered into a stone-like texture that hides layer lines, and print it with buildplate adhesion.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vase with a uniform fuzzy texture that masks layer lines completely.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open vase.stl, FDM printer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15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labs/lab-15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4_68aaac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43545"/>
            <a:ext cx="5166360" cy="356527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10_11452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822" y="1783080"/>
            <a:ext cx="2599995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15 — Fuzzy Skin — Textured Walls on a Vase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printed vase carries an even, tactile texture on every outer wall with no visible layer banding — a finish achieved purely in slicing, with zero post-processing.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16 — Post-Processing — Support Removal and Sanding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A5 — apply post-processing to lift the quality of an FDM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Print the vase tilted so it needs supports, remove them cleanly, then sand the scarred surfaces through progressive grits to a smooth finish.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tilted-print vase taken from raw support-scarred print to a smooth finished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Ultimaker Cura, open vase.stl, FDM printer, pliers, sandpaper 120→400 grit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guide: Learner Guide, Lab </a:t>
            </a:r>
            <a:r>
              <a:rPr sz="1200" b="1">
                <a:solidFill>
                  <a:srgbClr val="5B6372"/>
                </a:solidFill>
                <a:latin typeface="Arial"/>
              </a:rPr>
              <a:t>16</a:t>
            </a:r>
            <a:r>
              <a:rPr sz="1200" b="0">
                <a:solidFill>
                  <a:srgbClr val="5B6372"/>
                </a:solidFill>
                <a:latin typeface="Arial"/>
              </a:rPr>
              <a:t>  ·  labs/lab-16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16 — What You'll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18_7b4d2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8753"/>
            <a:ext cx="5166360" cy="25948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133_d4499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21" y="1783080"/>
            <a:ext cx="3572796" cy="388619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772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the model / setting you'll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5760720"/>
            <a:ext cx="5166360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815584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Reference — as prepared in the slicer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16 — Post-Processing — Support Removal and Sanding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support side of the vase is smooth to the touch with no visible scars from a normal viewing distance — the part looks moulded rather than printed.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steps and troubleshooting: Learner Guide · Lab </a:t>
            </a:r>
            <a:r>
              <a:rPr sz="13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Walls and infill are the strength-vs-speed dial; measure what every setting costs before standardising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 height, top thickness, ironing and fuzzy skin put surface quality under deliberate control.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Reorient first, support second — and plan support removal before slicing, not after printing.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every improvement with the baseline→change→measure→compare→decide loop across speed, quality, material, cost and feedback.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Calibration, training, sustainable materials and collaboration keep an AM operation viable long-term.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Analysed AM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Seven process families, materials, benefits and trade-offs — and when to choose which.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Designed for 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Extrude, sweep, loft, revolve, tolerances and stress-aware design in Fusion 360.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Reverse engineered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3D-scanned a real object and rebuilt scans into printable CAD.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Diagnosed process 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Adhesion, extrusion, temperature, jams and materials — evidence-based fixes.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Optimised processes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Infill, surface quality, supports and post-processing — measured, not guessed.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Assessed business impact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Speed, quality, material, cost and feedback before and after each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&amp;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15_8266d9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69" y="1783080"/>
            <a:ext cx="3297741" cy="39776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exams.tertiaryinfotech.com · lms-tms.tertiaryinfotech.com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portal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Sharpen your readiness at https://exams.tertiaryinfotech.com.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Revise the labs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Redo each lab's Test-it check from memory — settings and reasons.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Know the frameworks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 process families · 5 issue sources · the improvement loop.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Open book ≠ open mind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Bookmark your slides and Learner Guide sections before the assessment.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·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&amp;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42_59bff3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4627"/>
            <a:ext cx="6400800" cy="233454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Certificate delivery and TRAQOM survey QR codes on the 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83080"/>
            <a:ext cx="82296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856231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Certificate of Achievement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Issued on 75% attendance + Competent assessment — download from the LMS.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907791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07791"/>
            <a:ext cx="82296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980944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OpenCert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SkillsFuture Singapore issues an OpenCert Statement of Attainment.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32504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032504"/>
            <a:ext cx="82296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4105656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Scan the survey QR — your feedback is mandatory for WSQ funding.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157216"/>
            <a:ext cx="4023360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5157216"/>
            <a:ext cx="82296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230368"/>
            <a:ext cx="3566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Portal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Product Design with Fusion 360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Product Design with Autodesk Inventor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AutoCAD Civil 3D for Infrastructure Design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Basic Technical Drawing with SketchUp for Beginners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WSQ — 3D Modelling with Blender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Tel: 6100 0613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•  Web: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Short-Answer Questions (SAQ) — 1 hour,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practical tasks — 90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Minimum 75% attendance to be eligible for assessment and funding.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Upload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Submit your completed answers on https://lms-tms.tertiaryinfotech.com.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Sit WA (SAQ) then the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· PM · 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SSG QR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generated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&amp;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You are now ready to innovate product development with 3D printing and additive manufacturing.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Innovating Product Development with 3D Printing and Additive  ·  TGS-2022017597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